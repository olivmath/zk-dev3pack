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embeddedFontLst>
    <p:embeddedFont>
      <p:font typeface="Roboto Slab"/>
      <p:regular r:id="rId40"/>
      <p:bold r:id="rId41"/>
    </p:embeddedFon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gTWgTbcCxO6/eFokG89KTSPLIM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lab-regular.fntdata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font" Target="fonts/RobotoSlab-bold.fntdata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6a5020bd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d6a5020bdb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794ff4516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8794ff4516_0_9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6a5020bd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d6a5020bdb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794ff4516_0_80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8794ff4516_0_80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8794ff4516_0_80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8794ff4516_0_80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8794ff4516_0_80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8794ff4516_0_8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8794ff4516_0_8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g38794ff4516_0_85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g38794ff4516_0_85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8794ff4516_0_85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8794ff4516_0_8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g38794ff4516_0_809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g38794ff4516_0_809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g38794ff4516_0_8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g38794ff4516_0_813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g38794ff4516_0_813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g38794ff4516_0_813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38794ff4516_0_8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g38794ff4516_0_818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8794ff4516_0_818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g38794ff4516_0_818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8794ff4516_0_818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g38794ff4516_0_8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794ff4516_0_824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g38794ff4516_0_8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g38794ff4516_0_827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8794ff4516_0_827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g38794ff4516_0_827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g38794ff4516_0_8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794ff4516_0_832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g38794ff4516_0_8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794ff4516_0_835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g38794ff4516_0_835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g38794ff4516_0_835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2" name="Google Shape;52;g38794ff4516_0_835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3" name="Google Shape;53;g38794ff4516_0_835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g38794ff4516_0_8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794ff4516_0_842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7" name="Google Shape;57;g38794ff4516_0_8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794ff4516_0_845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8794ff4516_0_845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g38794ff4516_0_845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g38794ff4516_0_8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794ff4516_0_8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rgbClr val="9900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794ff4516_0_798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8794ff4516_0_798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8794ff4516_0_79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mn178.github.io/online-tools/sha256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ndersbrownworth.com/blockchain/blockchai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devglan.com/online-tools/aes-encryption-decryptio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a5020bdb_0_8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Essential Tools of Modern Cryptography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d6a5020bdb_0_8"/>
          <p:cNvSpPr txBox="1"/>
          <p:nvPr>
            <p:ph idx="1" type="subTitle"/>
          </p:nvPr>
        </p:nvSpPr>
        <p:spPr>
          <a:xfrm>
            <a:off x="1563450" y="3847050"/>
            <a:ext cx="6017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Hash Functions</a:t>
            </a:r>
            <a:r>
              <a:rPr lang="en-US">
                <a:solidFill>
                  <a:srgbClr val="888888"/>
                </a:solidFill>
              </a:rPr>
              <a:t> • </a:t>
            </a:r>
            <a:r>
              <a:rPr lang="en-US">
                <a:solidFill>
                  <a:srgbClr val="888888"/>
                </a:solidFill>
              </a:rPr>
              <a:t>Diffie-Hellman Key Exchange</a:t>
            </a:r>
            <a:r>
              <a:rPr lang="en-US">
                <a:solidFill>
                  <a:srgbClr val="888888"/>
                </a:solidFill>
              </a:rPr>
              <a:t> • Asymmetric Cryptography • Hands-on Exercises</a:t>
            </a:r>
            <a:endParaRPr/>
          </a:p>
        </p:txBody>
      </p:sp>
      <p:sp>
        <p:nvSpPr>
          <p:cNvPr id="71" name="Google Shape;71;g3d6a5020bdb_0_8"/>
          <p:cNvSpPr txBox="1"/>
          <p:nvPr>
            <p:ph idx="1" type="subTitle"/>
          </p:nvPr>
        </p:nvSpPr>
        <p:spPr>
          <a:xfrm>
            <a:off x="467375" y="5059050"/>
            <a:ext cx="6239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0xMilica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ZK &amp; Privacy Lead @dev3pack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PhD researcher in ZK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2" name="Google Shape;72;g3d6a5020bdb_0_8" title="Dev3pack White background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75" y="62825"/>
            <a:ext cx="3202724" cy="106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Functions &amp; Properties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 Cryptography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Exchange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Cryptography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Diffie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Hellman Key Exchange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Summary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Cryptography Matters</a:t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security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 relevance</a:t>
            </a:r>
            <a:endParaRPr/>
          </a:p>
        </p:txBody>
      </p:sp>
      <p:pic>
        <p:nvPicPr>
          <p:cNvPr id="85" name="Google Shape;85;p3" title="Digital padlock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800" y="3824125"/>
            <a:ext cx="4023000" cy="23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794ff4516_0_9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Hash Function?</a:t>
            </a:r>
            <a:endParaRPr/>
          </a:p>
        </p:txBody>
      </p:sp>
      <p:sp>
        <p:nvSpPr>
          <p:cNvPr id="91" name="Google Shape;91;g38794ff4516_0_9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Char char="●"/>
            </a:pP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ixed size output </a:t>
            </a: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- for any input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- same input always produces </a:t>
            </a: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the same output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Char char="●"/>
            </a:pP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Irreversible output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Properties</a:t>
            </a:r>
            <a:endParaRPr/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 resistance</a:t>
            </a:r>
            <a:endParaRPr sz="1700"/>
          </a:p>
          <a:p>
            <a:pPr indent="-33655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Avalanche effect - one small change, huge effect</a:t>
            </a:r>
            <a:endParaRPr sz="1700"/>
          </a:p>
        </p:txBody>
      </p:sp>
      <p:pic>
        <p:nvPicPr>
          <p:cNvPr id="98" name="Google Shape;98;p5" title="HASH-FUNCTIONS-IN-CRYPTOGRAPHY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867138"/>
            <a:ext cx="762000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Hash Algorithms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MD5, SHA-1 (broken)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SHA-256 (secure)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SHA-3 (modern standard)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Hashes</a:t>
            </a:r>
            <a:endParaRPr/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 storage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integrity checking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signatures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Example</a:t>
            </a:r>
            <a:endParaRPr/>
          </a:p>
        </p:txBody>
      </p:sp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“bootcamp” vs “Bootcamp” → very different hash outputs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https://emn178.github.io/online-tools/sha256.html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Exercise: Toy Hash by Hand</a:t>
            </a:r>
            <a:endParaRPr/>
          </a:p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= ASCII sum mod 100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CAT → 67+65+84=216 → 216 mod 100 = 16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Exercise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200">
                <a:solidFill>
                  <a:srgbClr val="E6B8AF"/>
                </a:solidFill>
              </a:rPr>
              <a:t>a gentleman</a:t>
            </a:r>
            <a:r>
              <a:rPr lang="en-US" sz="3200">
                <a:solidFill>
                  <a:srgbClr val="E6B8A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>
                <a:solidFill>
                  <a:srgbClr val="E6B8AF"/>
                </a:solidFill>
              </a:rPr>
              <a:t>elegant man</a:t>
            </a:r>
            <a:endParaRPr sz="3200">
              <a:solidFill>
                <a:srgbClr val="E6B8AF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(use 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otebook and pencil)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Collision Challenge</a:t>
            </a:r>
            <a:endParaRPr/>
          </a:p>
        </p:txBody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Exercise:</a:t>
            </a:r>
            <a:br>
              <a:rPr lang="en-US" sz="32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to create two different words with same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- smaller hash pool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Avalanche Effect (Demo)</a:t>
            </a:r>
            <a:endParaRPr/>
          </a:p>
        </p:txBody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'hello' vs 'Hello' → drastically different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(‘H’ and ‘h’ have different ASCII values)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 Game: Proof-of-Work</a:t>
            </a:r>
            <a:endParaRPr/>
          </a:p>
        </p:txBody>
      </p:sp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Exercise: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word that hashes to something starting with '00'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Mimics Bitcoin mining difficulty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3200"/>
              <a:buChar char="●"/>
            </a:pPr>
            <a:r>
              <a:rPr lang="en-US" sz="3200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https://andersbrownworth.com/blockchain/blockchain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Symmetric Cryptography?</a:t>
            </a:r>
            <a:endParaRPr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key for encryption and decryption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AES (current standard)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(deprecated)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(Encryption/Decryption)</a:t>
            </a:r>
            <a:endParaRPr/>
          </a:p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Plaintext → Ciphertext → Plaintext</a:t>
            </a:r>
            <a:endParaRPr/>
          </a:p>
          <a:p>
            <a:pPr indent="-330200" lvl="0" marL="34290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000"/>
              <a:buChar char="●"/>
            </a:pPr>
            <a:r>
              <a:rPr lang="en-US" sz="3000" u="sng">
                <a:solidFill>
                  <a:schemeClr val="hlink"/>
                </a:solidFill>
                <a:hlinkClick r:id="rId3"/>
              </a:rPr>
              <a:t>https://www.devglan.com/online-tools/aes-encryption-decryption</a:t>
            </a:r>
            <a:r>
              <a:rPr lang="en-US" sz="3000"/>
              <a:t> 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 &amp; Cons</a:t>
            </a:r>
            <a:endParaRPr/>
          </a:p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Fast, efficient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Key distribution problem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 Exchange Problem</a:t>
            </a:r>
            <a:endParaRPr/>
          </a:p>
        </p:txBody>
      </p:sp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share a secret key securely?</a:t>
            </a:r>
            <a:endParaRPr/>
          </a:p>
        </p:txBody>
      </p:sp>
      <p:pic>
        <p:nvPicPr>
          <p:cNvPr id="171" name="Google Shape;171;p17" title="Screenshot 2025-10-01 at 15.47.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075" y="2319550"/>
            <a:ext cx="6390976" cy="42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Historical Methods</a:t>
            </a:r>
            <a:endParaRPr/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Trusted couriers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Pre-shared secrets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Solutions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Diffie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Hellman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Crypto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graphy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key / Private key pairs</a:t>
            </a:r>
            <a:endParaRPr/>
          </a:p>
        </p:txBody>
      </p:sp>
      <p:pic>
        <p:nvPicPr>
          <p:cNvPr id="190" name="Google Shape;190;p20" title="Public_key_shared_secret.sv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9138" y="2231000"/>
            <a:ext cx="3925725" cy="43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Algorithms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RSA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Elliptic Curve Cryptography (ECC)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signatures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SSL/TLS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Blockchain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Examples: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signature, HTTPS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 &amp; Cons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Solves distribution problem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Slower than symmetric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Diffie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Hellman Key Exchange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Invented 1976 by Diffie &amp; Hellman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practical key exchange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Relies on Discrete Logarithm Problem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We Need It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safe channel required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from discrete log problem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Analogy</a:t>
            </a:r>
            <a:endParaRPr/>
          </a:p>
        </p:txBody>
      </p:sp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Colour mixing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pic>
        <p:nvPicPr>
          <p:cNvPr id="227" name="Google Shape;227;p29" title="Basic-Color-Wheel-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8325" y="1212675"/>
            <a:ext cx="5595675" cy="55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Protocol (Step by Step)</a:t>
            </a:r>
            <a:endParaRPr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Public numbers p, g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Alice chooses a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Bob chooses b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Compute A and B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Exchange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Compute shared secret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Calculation</a:t>
            </a:r>
            <a:endParaRPr/>
          </a:p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457200" y="1600200"/>
            <a:ext cx="8445300" cy="4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Alice and Bob agree publicly on a prime modulus and a generator: 17 and 3</a:t>
            </a:r>
            <a:br>
              <a:rPr lang="en-US" sz="32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3 mod 17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Alice selects private, random number 15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calculates 3^15 mod 17 = 6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sends 6 to Bob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Bob selects private, random number 13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calculates 3^13 mod 17 = 12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sends 12 to Alice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Alice takes Bob’s public result 12 and her private key 15 and calculates 12^15mod 17 = 10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Bob takes Alice’s public result 6 and his private key 13 and calculates 6^13 mod 17 = 10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Shared secret is 10 :)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Exercise: Diffie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Hellman by Hand</a:t>
            </a:r>
            <a:endParaRPr/>
          </a:p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A = g^a mod p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B = g^b mod p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Exchange, compute shared secret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Check</a:t>
            </a:r>
            <a:endParaRPr/>
          </a:p>
        </p:txBody>
      </p:sp>
      <p:sp>
        <p:nvSpPr>
          <p:cNvPr id="251" name="Google Shape;251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A=8, B=19, shared=2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 Challenge</a:t>
            </a:r>
            <a:endParaRPr/>
          </a:p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in pairs, choose a and b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shared key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cannot eavesdropper compute secret?</a:t>
            </a:r>
            <a:endParaRPr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p is too small?</a:t>
            </a:r>
            <a:endParaRPr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Connections: TLS, VPNs, messaging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269" name="Google Shape;269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Hashes = integrity &amp; security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 = fast, distribution problem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= solves distribution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Diffie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Hellman = secure key exchange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6a5020bdb_0_8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Essential Tools of Modern Cryptography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d6a5020bdb_0_82"/>
          <p:cNvSpPr txBox="1"/>
          <p:nvPr>
            <p:ph idx="1" type="subTitle"/>
          </p:nvPr>
        </p:nvSpPr>
        <p:spPr>
          <a:xfrm>
            <a:off x="1522400" y="4065925"/>
            <a:ext cx="6017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Hash Functions • Diffie-Hellman Key Exchange • Asymmetric Cryptography • Hands-on Exercises</a:t>
            </a:r>
            <a:endParaRPr/>
          </a:p>
        </p:txBody>
      </p:sp>
      <p:sp>
        <p:nvSpPr>
          <p:cNvPr id="276" name="Google Shape;276;g3d6a5020bdb_0_82"/>
          <p:cNvSpPr txBox="1"/>
          <p:nvPr>
            <p:ph idx="1" type="subTitle"/>
          </p:nvPr>
        </p:nvSpPr>
        <p:spPr>
          <a:xfrm>
            <a:off x="467375" y="5059050"/>
            <a:ext cx="6239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0xMilica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ZK &amp; Privacy Lead @dev3pack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PhD researcher in ZK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7" name="Google Shape;277;g3d6a5020bdb_0_82" title="Dev3pack White background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75" y="62825"/>
            <a:ext cx="3202724" cy="106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