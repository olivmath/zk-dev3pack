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9144000"/>
  <p:notesSz cx="6858000" cy="9144000"/>
  <p:embeddedFontLst>
    <p:embeddedFont>
      <p:font typeface="Roboto Slab"/>
      <p:regular r:id="rId43"/>
      <p:bold r:id="rId44"/>
    </p:embeddedFont>
    <p:embeddedFont>
      <p:font typeface="Raleway"/>
      <p:regular r:id="rId45"/>
      <p:bold r:id="rId46"/>
      <p:italic r:id="rId47"/>
      <p:boldItalic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Lato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1" roundtripDataSignature="AMtx7mgdjOx/Y3+BEwqqP8D5vq8jAAhf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obotoSlab-bold.fntdata"/><Relationship Id="rId43" Type="http://schemas.openxmlformats.org/officeDocument/2006/relationships/font" Target="fonts/RobotoSlab-regular.fntdata"/><Relationship Id="rId46" Type="http://schemas.openxmlformats.org/officeDocument/2006/relationships/font" Target="fonts/Raleway-bold.fntdata"/><Relationship Id="rId45" Type="http://schemas.openxmlformats.org/officeDocument/2006/relationships/font" Target="fonts/Raleway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aleway-boldItalic.fntdata"/><Relationship Id="rId47" Type="http://schemas.openxmlformats.org/officeDocument/2006/relationships/font" Target="fonts/Raleway-italic.fntdata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Mon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Lato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5.xml"/><Relationship Id="rId55" Type="http://schemas.openxmlformats.org/officeDocument/2006/relationships/font" Target="fonts/Lato-italic.fntdata"/><Relationship Id="rId10" Type="http://schemas.openxmlformats.org/officeDocument/2006/relationships/slide" Target="slides/slide4.xml"/><Relationship Id="rId54" Type="http://schemas.openxmlformats.org/officeDocument/2006/relationships/font" Target="fonts/Lato-bold.fntdata"/><Relationship Id="rId13" Type="http://schemas.openxmlformats.org/officeDocument/2006/relationships/slide" Target="slides/slide7.xml"/><Relationship Id="rId57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56" Type="http://schemas.openxmlformats.org/officeDocument/2006/relationships/font" Target="fonts/Lato-boldItalic.fntdata"/><Relationship Id="rId15" Type="http://schemas.openxmlformats.org/officeDocument/2006/relationships/slide" Target="slides/slide9.xml"/><Relationship Id="rId59" Type="http://schemas.openxmlformats.org/officeDocument/2006/relationships/font" Target="fonts/RobotoMono-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88ebbace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d88ebbace0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94f6d4344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894f6d434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94f6d4344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894f6d4344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94f6d4344_0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894f6d434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94f6d4344_0_3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894f6d4344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94f6d4344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894f6d434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94f6d4344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894f6d4344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94f6d4344_0_3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894f6d434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94f6d4344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894f6d4344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94f6d4344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894f6d4344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94f6d4344_0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894f6d4344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94f6d4344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894f6d434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94f6d4344_0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894f6d4344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94f6d4344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894f6d4344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94f6d4344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894f6d434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94f6d4344_0_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894f6d4344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94f6d4344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894f6d4344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94f6d4344_0_4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894f6d4344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94f6d4344_0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894f6d4344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94f6d4344_0_4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894f6d4344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94f6d4344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894f6d4344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88ebbace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d88ebbace0_0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94f6d4344_0_2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3894f6d4344_0_25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g3894f6d4344_0_2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894f6d4344_0_2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894f6d4344_0_2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94f6d4344_0_19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g3894f6d4344_0_19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8" name="Google Shape;18;g3894f6d4344_0_19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894f6d4344_0_19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g3894f6d4344_0_195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1" name="Google Shape;21;g3894f6d4344_0_195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" name="Google Shape;22;g3894f6d4344_0_19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g3894f6d4344_0_18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5" name="Google Shape;25;g3894f6d4344_0_18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894f6d4344_0_18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g3894f6d4344_0_189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894f6d4344_0_18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894f6d4344_0_23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g3894f6d4344_0_23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2" name="Google Shape;32;g3894f6d4344_0_2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894f6d4344_0_2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894f6d4344_0_233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" name="Google Shape;35;g3894f6d4344_0_233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g3894f6d4344_0_233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g3894f6d4344_0_23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894f6d4344_0_181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g3894f6d4344_0_181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1" name="Google Shape;41;g3894f6d4344_0_1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894f6d4344_0_1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g3894f6d4344_0_181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g3894f6d4344_0_181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g3894f6d4344_0_18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894f6d4344_0_203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g3894f6d4344_0_20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9" name="Google Shape;49;g3894f6d4344_0_20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894f6d4344_0_20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g3894f6d4344_0_203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2" name="Google Shape;52;g3894f6d4344_0_203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g3894f6d4344_0_203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894f6d4344_0_20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94f6d4344_0_21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g3894f6d4344_0_21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8" name="Google Shape;58;g3894f6d4344_0_2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894f6d4344_0_2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g3894f6d4344_0_212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1" name="Google Shape;61;g3894f6d4344_0_2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4f6d4344_0_219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g3894f6d4344_0_21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5" name="Google Shape;65;g3894f6d4344_0_2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894f6d4344_0_2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g3894f6d4344_0_219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8" name="Google Shape;68;g3894f6d4344_0_219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894f6d4344_0_21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g3894f6d4344_0_227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2" name="Google Shape;72;g3894f6d4344_0_2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894f6d4344_0_2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g3894f6d4344_0_227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g3894f6d4344_0_22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94f6d4344_0_242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g3894f6d4344_0_24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894f6d4344_0_245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81" name="Google Shape;81;g3894f6d4344_0_2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894f6d4344_0_2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3894f6d4344_0_245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3894f6d4344_0_245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g3894f6d4344_0_24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4f6d4344_0_25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ebbace0_0_151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4" name="Google Shape;94;g3d88ebbace0_0_151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95" name="Google Shape;95;g3d88ebbace0_0_151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d88ebbace0_0_151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7" name="Google Shape;97;g3d88ebbace0_0_151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98" name="Google Shape;98;g3d88ebbace0_0_1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8ebbace0_0_1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g3d88ebbace0_0_15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2" name="Google Shape;102;g3d88ebbace0_0_15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d88ebbace0_0_15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3d88ebbace0_0_1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g3d88ebbace0_0_16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g3d88ebbace0_0_164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8" name="Google Shape;108;g3d88ebbace0_0_1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g3d88ebbace0_0_168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g3d88ebbace0_0_168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g3d88ebbace0_0_168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g3d88ebbace0_0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d88ebbace0_0_173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g3d88ebbace0_0_173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g3d88ebbace0_0_173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g3d88ebbace0_0_173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g3d88ebbace0_0_17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88ebbace0_0_179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g3d88ebbace0_0_17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g3d88ebbace0_0_182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g3d88ebbace0_0_182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g3d88ebbace0_0_182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g3d88ebbace0_0_18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88ebbace0_0_187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0" name="Google Shape;130;g3d88ebbace0_0_1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88ebbace0_0_190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g3d88ebbace0_0_190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g3d88ebbace0_0_190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35" name="Google Shape;135;g3d88ebbace0_0_190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6" name="Google Shape;136;g3d88ebbace0_0_19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g3d88ebbace0_0_1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88ebbace0_0_197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140" name="Google Shape;140;g3d88ebbace0_0_1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8ebbace0_0_200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d88ebbace0_0_200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g3d88ebbace0_0_200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g3d88ebbace0_0_2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8ebbace0_0_20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9900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94f6d4344_0_1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894f6d4344_0_17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894f6d4344_0_17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rgbClr val="9900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8ebbace0_0_147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90" name="Google Shape;90;g3d88ebbace0_0_147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1" name="Google Shape;91;g3d88ebbace0_0_1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88ebbace0_0_140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Zero-Knowledge Proofs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Multi Party Computation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KZG commitments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88ebbace0_0_140"/>
          <p:cNvSpPr txBox="1"/>
          <p:nvPr>
            <p:ph idx="1" type="subTitle"/>
          </p:nvPr>
        </p:nvSpPr>
        <p:spPr>
          <a:xfrm>
            <a:off x="1563450" y="3847050"/>
            <a:ext cx="6017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MPC</a:t>
            </a:r>
            <a:r>
              <a:rPr lang="en-US">
                <a:solidFill>
                  <a:srgbClr val="888888"/>
                </a:solidFill>
              </a:rPr>
              <a:t> • Commitment Scheme </a:t>
            </a:r>
            <a:r>
              <a:rPr lang="en-US">
                <a:solidFill>
                  <a:srgbClr val="888888"/>
                </a:solidFill>
              </a:rPr>
              <a:t>• KZG • Prover, Verifier, Witness • </a:t>
            </a:r>
            <a:r>
              <a:rPr lang="en-US">
                <a:solidFill>
                  <a:srgbClr val="888888"/>
                </a:solidFill>
              </a:rPr>
              <a:t>Hands-on Exercises</a:t>
            </a:r>
            <a:endParaRPr/>
          </a:p>
        </p:txBody>
      </p:sp>
      <p:sp>
        <p:nvSpPr>
          <p:cNvPr id="154" name="Google Shape;154;g3d88ebbace0_0_140"/>
          <p:cNvSpPr txBox="1"/>
          <p:nvPr>
            <p:ph idx="1" type="subTitle"/>
          </p:nvPr>
        </p:nvSpPr>
        <p:spPr>
          <a:xfrm>
            <a:off x="467375" y="5059050"/>
            <a:ext cx="6239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0xMilica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ZK &amp; Privacy Lead @dev3pack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PhD researcher in ZK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5" name="Google Shape;155;g3d88ebbace0_0_140" title="Dev3pack White background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75" y="62825"/>
            <a:ext cx="3202724" cy="106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Why ZKPs?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61" name="Google Shape;16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Privacy &amp; scalability for blockchain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“Prove without revealing’’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a safe box with a key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" title="Screenshot 2025-07-19 at 05.01.19.png"/>
          <p:cNvPicPr preferRelativeResize="0"/>
          <p:nvPr/>
        </p:nvPicPr>
        <p:blipFill rotWithShape="1">
          <a:blip r:embed="rId3">
            <a:alphaModFix/>
          </a:blip>
          <a:srcRect b="5640" l="0" r="0" t="11047"/>
          <a:stretch/>
        </p:blipFill>
        <p:spPr>
          <a:xfrm>
            <a:off x="5380500" y="3740725"/>
            <a:ext cx="3763500" cy="311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ZKP Building Blocks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68" name="Google Shape;16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Verifier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Witness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Relation (R)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74" name="Google Shape;17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(S, w) ∈ R if witness matches statement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ZKP = prove (S, w) ∈ R without revealing w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Role-Play Demo: Let’s try it out!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0" name="Google Shape;18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Prover: “I know a secret number that hashes to 4.”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Verifier: “Prove it, but don’t tell me the number.”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Prover shows alternative valid number (e.g. 32).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Verifier is convinced, without learning the witness.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Why Not Reveal Directly?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6" name="Google Shape;186;p6"/>
          <p:cNvSpPr txBox="1"/>
          <p:nvPr>
            <p:ph idx="1" type="body"/>
          </p:nvPr>
        </p:nvSpPr>
        <p:spPr>
          <a:xfrm>
            <a:off x="457200" y="189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Revealing x = 25 → z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ro-knowledge lost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Trick with x+r leaks witness (35 – 10 = 25)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ZKPs use commitments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Example: Hash Preimage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Statement: h = 4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Witness: x = 25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hash: H(x) = x mod 7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Check: 25 mod 7 = 4 ✅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Prover: “I know some x that hashes to h = 4.”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Non-Interactive Proofs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Fiat</a:t>
            </a:r>
            <a:r>
              <a:rPr lang="en-US">
                <a:solidFill>
                  <a:schemeClr val="lt1"/>
                </a:solidFill>
              </a:rPr>
              <a:t>-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Shamir transform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message only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Blockchain use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Multi-Party Computation (MPC)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4" name="Google Shape;204;p10"/>
          <p:cNvSpPr txBox="1"/>
          <p:nvPr>
            <p:ph idx="1" type="body"/>
          </p:nvPr>
        </p:nvSpPr>
        <p:spPr>
          <a:xfrm>
            <a:off x="457200" y="19191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Multiple parties compute a function without revealing inputs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Inputs stay private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Everyone learns only the result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Classroom Exercise: Our Ages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10" name="Google Shape;210;p11"/>
          <p:cNvSpPr txBox="1"/>
          <p:nvPr>
            <p:ph idx="1" type="body"/>
          </p:nvPr>
        </p:nvSpPr>
        <p:spPr>
          <a:xfrm>
            <a:off x="457200" y="17307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 with your age + random offset (e.g. 30 + 50 = 80)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 number around, each adds age: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1st: 103, 2nd: 130, 3rd: 161, 4th: 190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 = 190, subtract offset (50) → 140 total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revealed, no individual ages leaked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</a:rPr>
              <a:t>Multi-Party Computation (MPC)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216" name="Google Shape;216;p12"/>
          <p:cNvSpPr txBox="1"/>
          <p:nvPr>
            <p:ph idx="1" type="body"/>
          </p:nvPr>
        </p:nvSpPr>
        <p:spPr>
          <a:xfrm>
            <a:off x="457200" y="19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MPC: group hides inputs, reveals function result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ZKP: one hides witness, reveals statement truth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Both: privacy-preserving computation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274653"/>
            <a:ext cx="82296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</a:rPr>
              <a:t>Properties of ZKPs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457200" y="20206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b="1" lang="en-US" sz="3200">
                <a:solidFill>
                  <a:schemeClr val="lt1"/>
                </a:solidFill>
              </a:rPr>
              <a:t>Completeness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If true, honest Prover convinces Verifier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b="1" lang="en-US" sz="3200">
                <a:solidFill>
                  <a:schemeClr val="lt1"/>
                </a:solidFill>
              </a:rPr>
              <a:t>Soundness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If false, cheating Prover fails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b="1" lang="en-US" sz="3200">
                <a:solidFill>
                  <a:schemeClr val="lt1"/>
                </a:solidFill>
              </a:rPr>
              <a:t>Zero-Knowledge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Verifier learns nothing about witness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Why Commitments?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8" name="Google Shape;228;p15"/>
          <p:cNvSpPr txBox="1"/>
          <p:nvPr>
            <p:ph idx="1" type="body"/>
          </p:nvPr>
        </p:nvSpPr>
        <p:spPr>
          <a:xfrm>
            <a:off x="457200" y="1861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Needed for scalability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Bind to polynomial, open later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Properties: binding, hiding, succinct verification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94f6d4344_0_261"/>
          <p:cNvSpPr txBox="1"/>
          <p:nvPr>
            <p:ph type="title"/>
          </p:nvPr>
        </p:nvSpPr>
        <p:spPr>
          <a:xfrm>
            <a:off x="729450" y="234426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3500">
                <a:solidFill>
                  <a:schemeClr val="accent6"/>
                </a:solidFill>
              </a:rPr>
              <a:t>What is KZG?</a:t>
            </a:r>
            <a:endParaRPr sz="3500">
              <a:solidFill>
                <a:schemeClr val="accent6"/>
              </a:solidFill>
            </a:endParaRPr>
          </a:p>
        </p:txBody>
      </p:sp>
      <p:sp>
        <p:nvSpPr>
          <p:cNvPr id="234" name="Google Shape;234;g3894f6d4344_0_261"/>
          <p:cNvSpPr txBox="1"/>
          <p:nvPr>
            <p:ph idx="1" type="body"/>
          </p:nvPr>
        </p:nvSpPr>
        <p:spPr>
          <a:xfrm>
            <a:off x="729450" y="3695778"/>
            <a:ext cx="76887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named after Kate, Zaverucha and Goldberg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polynomial commitment scheme based on pairings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Commit(p(x)) → C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 p(z) = y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without revealing full </a:t>
            </a:r>
            <a:r>
              <a:rPr lang="en-US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p(x)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94f6d4344_0_324"/>
          <p:cNvSpPr txBox="1"/>
          <p:nvPr>
            <p:ph type="title"/>
          </p:nvPr>
        </p:nvSpPr>
        <p:spPr>
          <a:xfrm>
            <a:off x="729450" y="234426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3500">
                <a:solidFill>
                  <a:schemeClr val="accent6"/>
                </a:solidFill>
              </a:rPr>
              <a:t>KZG - Key Properties</a:t>
            </a:r>
            <a:endParaRPr sz="3500">
              <a:solidFill>
                <a:schemeClr val="accent6"/>
              </a:solidFill>
            </a:endParaRPr>
          </a:p>
        </p:txBody>
      </p:sp>
      <p:sp>
        <p:nvSpPr>
          <p:cNvPr id="240" name="Google Shape;240;g3894f6d4344_0_324"/>
          <p:cNvSpPr txBox="1"/>
          <p:nvPr>
            <p:ph idx="1" type="body"/>
          </p:nvPr>
        </p:nvSpPr>
        <p:spPr>
          <a:xfrm>
            <a:off x="729450" y="3144828"/>
            <a:ext cx="76887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Compact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Constant-size commitments and proofs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Efficient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Fast verification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Trusted Setup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Needs structured reference string (SRS)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94f6d4344_0_329"/>
          <p:cNvSpPr txBox="1"/>
          <p:nvPr>
            <p:ph type="title"/>
          </p:nvPr>
        </p:nvSpPr>
        <p:spPr>
          <a:xfrm>
            <a:off x="729450" y="234426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3500">
                <a:solidFill>
                  <a:schemeClr val="accent6"/>
                </a:solidFill>
              </a:rPr>
              <a:t>Polynomial Setup</a:t>
            </a:r>
            <a:endParaRPr sz="3500">
              <a:solidFill>
                <a:schemeClr val="accent6"/>
              </a:solidFill>
            </a:endParaRPr>
          </a:p>
        </p:txBody>
      </p:sp>
      <p:sp>
        <p:nvSpPr>
          <p:cNvPr id="246" name="Google Shape;246;g3894f6d4344_0_329"/>
          <p:cNvSpPr txBox="1"/>
          <p:nvPr>
            <p:ph idx="1" type="body"/>
          </p:nvPr>
        </p:nvSpPr>
        <p:spPr>
          <a:xfrm>
            <a:off x="729450" y="3695778"/>
            <a:ext cx="76887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say you have polynomial: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p(x) = a₀ + a₁x + a₂x² + ... + aₙxⁿ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coefficients are secret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want to commit to p(x) and later prove p(z) = y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94f6d4344_0_334"/>
          <p:cNvSpPr txBox="1"/>
          <p:nvPr>
            <p:ph type="title"/>
          </p:nvPr>
        </p:nvSpPr>
        <p:spPr>
          <a:xfrm>
            <a:off x="729450" y="234426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2900">
                <a:solidFill>
                  <a:schemeClr val="accent6"/>
                </a:solidFill>
              </a:rPr>
              <a:t>The Trusted Setup</a:t>
            </a:r>
            <a:endParaRPr sz="2900">
              <a:solidFill>
                <a:schemeClr val="accent6"/>
              </a:solidFill>
            </a:endParaRPr>
          </a:p>
        </p:txBody>
      </p:sp>
      <p:sp>
        <p:nvSpPr>
          <p:cNvPr id="252" name="Google Shape;252;g3894f6d4344_0_334"/>
          <p:cNvSpPr txBox="1"/>
          <p:nvPr>
            <p:ph idx="1" type="body"/>
          </p:nvPr>
        </p:nvSpPr>
        <p:spPr>
          <a:xfrm>
            <a:off x="729450" y="3695778"/>
            <a:ext cx="76887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Generate SRS: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{g, g^s, g^{s²}, ..., g^{s^n}}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one must know 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s is leaked → security breaks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SRS can be universal or per circuit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94f6d4344_0_339"/>
          <p:cNvSpPr txBox="1"/>
          <p:nvPr>
            <p:ph type="title"/>
          </p:nvPr>
        </p:nvSpPr>
        <p:spPr>
          <a:xfrm>
            <a:off x="729450" y="2351022"/>
            <a:ext cx="76884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Procedure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94f6d4344_0_343"/>
          <p:cNvSpPr txBox="1"/>
          <p:nvPr>
            <p:ph type="title"/>
          </p:nvPr>
        </p:nvSpPr>
        <p:spPr>
          <a:xfrm>
            <a:off x="727650" y="188669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KZG steps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3" name="Google Shape;263;g3894f6d4344_0_343"/>
          <p:cNvSpPr txBox="1"/>
          <p:nvPr>
            <p:ph idx="1" type="body"/>
          </p:nvPr>
        </p:nvSpPr>
        <p:spPr>
          <a:xfrm>
            <a:off x="602225" y="2838303"/>
            <a:ext cx="76887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Commitment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94f6d4344_0_348"/>
          <p:cNvSpPr txBox="1"/>
          <p:nvPr>
            <p:ph type="title"/>
          </p:nvPr>
        </p:nvSpPr>
        <p:spPr>
          <a:xfrm>
            <a:off x="727650" y="82654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Setup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69" name="Google Shape;269;g3894f6d4344_0_348"/>
          <p:cNvPicPr preferRelativeResize="0"/>
          <p:nvPr/>
        </p:nvPicPr>
        <p:blipFill rotWithShape="1">
          <a:blip r:embed="rId3">
            <a:alphaModFix/>
          </a:blip>
          <a:srcRect b="89374" l="1582" r="52428" t="7282"/>
          <a:stretch/>
        </p:blipFill>
        <p:spPr>
          <a:xfrm>
            <a:off x="460950" y="2558776"/>
            <a:ext cx="8222099" cy="44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94f6d4344_0_353"/>
          <p:cNvSpPr txBox="1"/>
          <p:nvPr>
            <p:ph type="title"/>
          </p:nvPr>
        </p:nvSpPr>
        <p:spPr>
          <a:xfrm>
            <a:off x="727650" y="85794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Setup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75" name="Google Shape;275;g3894f6d4344_0_353"/>
          <p:cNvPicPr preferRelativeResize="0"/>
          <p:nvPr/>
        </p:nvPicPr>
        <p:blipFill rotWithShape="1">
          <a:blip r:embed="rId3">
            <a:alphaModFix/>
          </a:blip>
          <a:srcRect b="89374" l="1582" r="52428" t="7282"/>
          <a:stretch/>
        </p:blipFill>
        <p:spPr>
          <a:xfrm>
            <a:off x="460950" y="2558776"/>
            <a:ext cx="8222099" cy="448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894f6d4344_0_3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3069575"/>
            <a:ext cx="8222101" cy="1560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94f6d4344_0_359"/>
          <p:cNvSpPr txBox="1"/>
          <p:nvPr>
            <p:ph type="title"/>
          </p:nvPr>
        </p:nvSpPr>
        <p:spPr>
          <a:xfrm>
            <a:off x="727650" y="82654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Commitment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82" name="Google Shape;282;g3894f6d4344_0_3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175" y="3429000"/>
            <a:ext cx="8053648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94f6d4344_0_364"/>
          <p:cNvSpPr txBox="1"/>
          <p:nvPr>
            <p:ph type="title"/>
          </p:nvPr>
        </p:nvSpPr>
        <p:spPr>
          <a:xfrm>
            <a:off x="727650" y="80561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Commitment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88" name="Google Shape;288;g3894f6d4344_0_3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175" y="3429000"/>
            <a:ext cx="8053648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894f6d4344_0_3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4460914"/>
            <a:ext cx="8222101" cy="606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94f6d4344_0_370"/>
          <p:cNvSpPr txBox="1"/>
          <p:nvPr>
            <p:ph type="title"/>
          </p:nvPr>
        </p:nvSpPr>
        <p:spPr>
          <a:xfrm>
            <a:off x="729450" y="2351022"/>
            <a:ext cx="76884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Let’s go through it with an example!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94f6d4344_0_374"/>
          <p:cNvSpPr txBox="1"/>
          <p:nvPr>
            <p:ph type="title"/>
          </p:nvPr>
        </p:nvSpPr>
        <p:spPr>
          <a:xfrm>
            <a:off x="727650" y="78469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Setup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00" name="Google Shape;300;g3894f6d4344_0_374" title="Screenshot 2025-07-19 at 05.11.2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37767"/>
            <a:ext cx="5386424" cy="4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94f6d4344_0_379"/>
          <p:cNvSpPr txBox="1"/>
          <p:nvPr>
            <p:ph type="title"/>
          </p:nvPr>
        </p:nvSpPr>
        <p:spPr>
          <a:xfrm>
            <a:off x="727650" y="77421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Setup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06" name="Google Shape;306;g3894f6d4344_0_379" title="Screenshot 2025-07-19 at 05.11.2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37767"/>
            <a:ext cx="5386424" cy="4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894f6d4344_0_379" title="Screenshot 2025-07-19 at 05.12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707567"/>
            <a:ext cx="8839197" cy="628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94f6d4344_0_385"/>
          <p:cNvSpPr txBox="1"/>
          <p:nvPr>
            <p:ph type="title"/>
          </p:nvPr>
        </p:nvSpPr>
        <p:spPr>
          <a:xfrm>
            <a:off x="727650" y="80561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Setup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13" name="Google Shape;313;g3894f6d4344_0_385" title="Screenshot 2025-07-19 at 05.11.2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37767"/>
            <a:ext cx="5386424" cy="4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894f6d4344_0_385" title="Screenshot 2025-07-19 at 05.12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707567"/>
            <a:ext cx="8839197" cy="628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894f6d4344_0_3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5555267"/>
            <a:ext cx="7636700" cy="5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894f6d4344_0_385"/>
          <p:cNvSpPr txBox="1"/>
          <p:nvPr/>
        </p:nvSpPr>
        <p:spPr>
          <a:xfrm>
            <a:off x="152400" y="4805033"/>
            <a:ext cx="24858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Reminder:</a:t>
            </a:r>
            <a:endParaRPr b="0" i="0" sz="2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94f6d4344_0_393"/>
          <p:cNvSpPr txBox="1"/>
          <p:nvPr>
            <p:ph type="title"/>
          </p:nvPr>
        </p:nvSpPr>
        <p:spPr>
          <a:xfrm>
            <a:off x="769525" y="84749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Setup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22" name="Google Shape;322;g3894f6d4344_0_393" title="Screenshot 2025-07-19 at 05.11.2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37767"/>
            <a:ext cx="5386424" cy="4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894f6d4344_0_393" title="Screenshot 2025-07-19 at 05.12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707567"/>
            <a:ext cx="8839197" cy="628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894f6d4344_0_393"/>
          <p:cNvSpPr txBox="1"/>
          <p:nvPr/>
        </p:nvSpPr>
        <p:spPr>
          <a:xfrm>
            <a:off x="152400" y="4805033"/>
            <a:ext cx="24858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Reminder:</a:t>
            </a:r>
            <a:endParaRPr b="0" i="0" sz="2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5" name="Google Shape;325;g3894f6d4344_0_393" title="Screenshot 2025-07-19 at 05.18.4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300" y="5641634"/>
            <a:ext cx="7516511" cy="3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94f6d4344_0_401"/>
          <p:cNvSpPr txBox="1"/>
          <p:nvPr>
            <p:ph type="title"/>
          </p:nvPr>
        </p:nvSpPr>
        <p:spPr>
          <a:xfrm>
            <a:off x="727650" y="75329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Commitment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31" name="Google Shape;331;g3894f6d4344_0_401" title="Screenshot 2025-07-19 at 05.21.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74567"/>
            <a:ext cx="8839200" cy="392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94f6d4344_0_406"/>
          <p:cNvSpPr txBox="1"/>
          <p:nvPr>
            <p:ph type="title"/>
          </p:nvPr>
        </p:nvSpPr>
        <p:spPr>
          <a:xfrm>
            <a:off x="727650" y="88934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Commitment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37" name="Google Shape;337;g3894f6d4344_0_406" title="Screenshot 2025-07-19 at 05.21.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74567"/>
            <a:ext cx="8839200" cy="392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894f6d4344_0_406" title="Screenshot 2025-07-19 at 05.22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00" y="3532834"/>
            <a:ext cx="6516498" cy="3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94f6d4344_0_412"/>
          <p:cNvSpPr txBox="1"/>
          <p:nvPr>
            <p:ph type="title"/>
          </p:nvPr>
        </p:nvSpPr>
        <p:spPr>
          <a:xfrm>
            <a:off x="677125" y="805617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Commitment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44" name="Google Shape;344;g3894f6d4344_0_412" title="Screenshot 2025-07-19 at 05.21.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74567"/>
            <a:ext cx="8839200" cy="392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894f6d4344_0_412" title="Screenshot 2025-07-19 at 05.22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00" y="3532834"/>
            <a:ext cx="6516498" cy="3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894f6d4344_0_412"/>
          <p:cNvSpPr txBox="1"/>
          <p:nvPr/>
        </p:nvSpPr>
        <p:spPr>
          <a:xfrm>
            <a:off x="105125" y="4266067"/>
            <a:ext cx="16650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Check:</a:t>
            </a:r>
            <a:endParaRPr b="0" i="0" sz="2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7" name="Google Shape;347;g3894f6d4344_0_412" title="Screenshot 2025-07-19 at 05.23.5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5132300"/>
            <a:ext cx="7521888" cy="3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94f6d4344_0_420"/>
          <p:cNvSpPr txBox="1"/>
          <p:nvPr>
            <p:ph type="title"/>
          </p:nvPr>
        </p:nvSpPr>
        <p:spPr>
          <a:xfrm>
            <a:off x="727650" y="828992"/>
            <a:ext cx="76887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solidFill>
                  <a:schemeClr val="accent6"/>
                </a:solidFill>
              </a:rPr>
              <a:t>Commitment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53" name="Google Shape;353;g3894f6d4344_0_420" title="Screenshot 2025-07-19 at 05.21.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74567"/>
            <a:ext cx="8839200" cy="392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894f6d4344_0_420" title="Screenshot 2025-07-19 at 05.22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00" y="3532834"/>
            <a:ext cx="6516498" cy="3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894f6d4344_0_420"/>
          <p:cNvSpPr txBox="1"/>
          <p:nvPr/>
        </p:nvSpPr>
        <p:spPr>
          <a:xfrm>
            <a:off x="105125" y="4266067"/>
            <a:ext cx="16650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Check:</a:t>
            </a:r>
            <a:endParaRPr b="0" i="0" sz="2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6" name="Google Shape;356;g3894f6d4344_0_420" title="Screenshot 2025-07-19 at 05.23.5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5132300"/>
            <a:ext cx="7521888" cy="3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894f6d4344_0_420" title="Screenshot 2025-07-19 at 05.26.1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5941733"/>
            <a:ext cx="3829900" cy="5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94f6d4344_0_429"/>
          <p:cNvSpPr txBox="1"/>
          <p:nvPr>
            <p:ph idx="2" type="body"/>
          </p:nvPr>
        </p:nvSpPr>
        <p:spPr>
          <a:xfrm>
            <a:off x="5959950" y="965600"/>
            <a:ext cx="28167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100">
                <a:solidFill>
                  <a:schemeClr val="accent6"/>
                </a:solidFill>
              </a:rPr>
              <a:t>Math </a:t>
            </a:r>
            <a:endParaRPr sz="31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-US" sz="3100">
                <a:solidFill>
                  <a:schemeClr val="accent6"/>
                </a:solidFill>
              </a:rPr>
              <a:t>or </a:t>
            </a:r>
            <a:endParaRPr sz="31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-US" sz="3100">
                <a:solidFill>
                  <a:schemeClr val="accent6"/>
                </a:solidFill>
              </a:rPr>
              <a:t>magic?</a:t>
            </a:r>
            <a:endParaRPr sz="3100">
              <a:solidFill>
                <a:schemeClr val="accent6"/>
              </a:solidFill>
            </a:endParaRPr>
          </a:p>
        </p:txBody>
      </p:sp>
      <p:pic>
        <p:nvPicPr>
          <p:cNvPr id="363" name="Google Shape;363;g3894f6d4344_0_429" title="dope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>
              <a:solidFill>
                <a:schemeClr val="accent6"/>
              </a:solidFill>
            </a:endParaRPr>
          </a:p>
        </p:txBody>
      </p:sp>
      <p:sp>
        <p:nvSpPr>
          <p:cNvPr id="369" name="Google Shape;36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Witness, statement, relation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Interactive vs. non-interactive + MPC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Completeness, soundness, zero-knowledge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Commitments &amp; KZG = ZKP foundations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Next up:</a:t>
            </a:r>
            <a:endParaRPr b="0">
              <a:solidFill>
                <a:schemeClr val="accent6"/>
              </a:solidFill>
            </a:endParaRPr>
          </a:p>
        </p:txBody>
      </p:sp>
      <p:sp>
        <p:nvSpPr>
          <p:cNvPr id="375" name="Google Shape;375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steps: Groth16, Plonk, STARKs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88ebbace0_0_207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Zero-Knowledge Proofs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Multi Party Computation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KZG commitments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d88ebbace0_0_207"/>
          <p:cNvSpPr txBox="1"/>
          <p:nvPr>
            <p:ph idx="1" type="subTitle"/>
          </p:nvPr>
        </p:nvSpPr>
        <p:spPr>
          <a:xfrm>
            <a:off x="1563450" y="3847050"/>
            <a:ext cx="6017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MPC • Commitment Scheme • KZG • Prover, Verifier, Witness • Hands-on Exercises</a:t>
            </a:r>
            <a:endParaRPr/>
          </a:p>
        </p:txBody>
      </p:sp>
      <p:sp>
        <p:nvSpPr>
          <p:cNvPr id="382" name="Google Shape;382;g3d88ebbace0_0_207"/>
          <p:cNvSpPr txBox="1"/>
          <p:nvPr>
            <p:ph idx="1" type="subTitle"/>
          </p:nvPr>
        </p:nvSpPr>
        <p:spPr>
          <a:xfrm>
            <a:off x="467375" y="5059050"/>
            <a:ext cx="6239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0xMilica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ZK &amp; Privacy Lead @dev3pack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PhD researcher in ZK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3" name="Google Shape;383;g3d88ebbace0_0_207" title="Dev3pack White background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75" y="62825"/>
            <a:ext cx="3202724" cy="106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